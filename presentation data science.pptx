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6" r:id="rId6"/>
    <p:sldId id="259" r:id="rId7"/>
    <p:sldId id="268" r:id="rId8"/>
    <p:sldId id="260" r:id="rId9"/>
    <p:sldId id="270" r:id="rId10"/>
    <p:sldId id="271" r:id="rId11"/>
    <p:sldId id="272" r:id="rId12"/>
    <p:sldId id="261" r:id="rId13"/>
    <p:sldId id="262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5A01F-BC8C-4316-AEFE-2BA294A0F951}" v="1582" dt="2026-05-02T20:25:20.284"/>
    <p1510:client id="{B58ABC1B-646C-4FED-BE30-FE0C65043D14}" v="194" dt="2026-05-01T15:37:38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96" d="100"/>
          <a:sy n="96" d="100"/>
        </p:scale>
        <p:origin x="-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38C1-C41C-4A0E-8EBE-EBB16A7ED97E}" type="datetimeFigureOut">
              <a:t>06/05/2026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0D28A-7AD3-48EA-9235-5AFFE1949F9A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839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F43F-B647-65D8-8F6C-2D1AC2F8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01DB3-E74E-1187-CBCA-469425FD4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A4055-C3D3-1744-1BD6-FF161E222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5B8A6-962B-F9DF-01D7-DCD1F6254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96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4CF9-2874-6D09-7AB5-DF569225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D8DAA-568A-EA92-8937-FD3EEF166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47554-1A0A-8625-9F68-952F7896B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B27D2-540F-7D53-D815-39CD62065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86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29EF-5682-1561-FA0C-F55579FC1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15728-C252-1822-8810-7B8AB35A3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450F5-40B6-A9DC-E921-1D4268865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96D09-C356-2E98-5326-6929F7211F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33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A731-64F6-6BE6-DFF7-4228DEF3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3C875-0DE4-5B3E-DFDE-DE8910981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61F37-A287-7059-7E24-B06AEFE49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D4914-04EE-9928-41D4-935958C87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76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145B1-DE08-29EE-FBDE-25705015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FBCFF-E1A8-2B66-BB2D-56B21D8E1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E062B8-0F76-14A4-890A-E0720F76D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E3E00-2037-85B8-22BF-C1BA14E8F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44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AB96-BA8A-F064-6C8B-346111C1B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2CBE6-8E9D-3C2F-B62B-0146FC3D3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85E58-713A-1E21-7842-44CF22CA8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BF4E7-728B-2C9A-0715-A836968810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332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58368"/>
            <a:ext cx="2057400" cy="301752"/>
          </a:xfrm>
          <a:prstGeom prst="roundRect">
            <a:avLst>
              <a:gd name="adj" fmla="val 24242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58952" y="731520"/>
            <a:ext cx="19110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M2 Data Engineering &amp; 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36601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</a:rPr>
              <a:t>Système intelligent pour la rétention client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337185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4748B"/>
                </a:solidFill>
              </a:rPr>
              <a:t>Prédiction du churn et aide à la décision marketing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François Ngy &amp; Antoine Theissen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5696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Projet Data Science — Support de soutenance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Problématique métier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Transformer des données client en actions de rétention priorisées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05790" y="254889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Pourquoi prédire le churn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" y="2411730"/>
            <a:ext cx="44805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Repérer les clients susceptibles de résilier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Prioriser les actions CRM et marketing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Réduire les faux négatifs : clients à risque non détectés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Passer d’un modèle statistique à un outil exploitable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17770" y="3017520"/>
            <a:ext cx="685800" cy="5029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89320" y="1634490"/>
            <a:ext cx="5212080" cy="3794760"/>
          </a:xfrm>
          <a:prstGeom prst="roundRect">
            <a:avLst>
              <a:gd name="adj" fmla="val 241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355080" y="190881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Objectif technique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236601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Construire une classification binaire qui renvoie une probabilité de churn et une décision selon un seuil optimisé.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355473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Livrable final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401193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Pipeline entraîné, modèle sauvegardé, API FastAPI et dashboard Streamlit pour simuler un client.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et analyse exploratoire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</a:rPr>
              <a:t>Dataset Kaggle customer_churn.csv : 10 000 clients, 32 variables </a:t>
            </a:r>
            <a:r>
              <a:rPr lang="en-US" sz="1050" dirty="0" err="1">
                <a:solidFill>
                  <a:srgbClr val="64748B"/>
                </a:solidFill>
              </a:rPr>
              <a:t>initiales</a:t>
            </a:r>
            <a:r>
              <a:rPr lang="en-US" sz="1050" dirty="0">
                <a:solidFill>
                  <a:srgbClr val="64748B"/>
                </a:solidFill>
              </a:rPr>
              <a:t>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25" descr="Une image contenant texte, capture d’écran, Police  Le contenu généré par l’IA peut être incorrect.">
            <a:extLst>
              <a:ext uri="{FF2B5EF4-FFF2-40B4-BE49-F238E27FC236}">
                <a16:creationId xmlns:a16="http://schemas.microsoft.com/office/drawing/2014/main" id="{039115AA-E6D1-4B95-D09D-E3769969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0764"/>
            <a:ext cx="7100000" cy="2529940"/>
          </a:xfrm>
          <a:prstGeom prst="rect">
            <a:avLst/>
          </a:prstGeom>
        </p:spPr>
      </p:pic>
      <p:pic>
        <p:nvPicPr>
          <p:cNvPr id="27" name="Image 26" descr="Une image contenant texte, capture d’écran, Police  Le contenu généré par l’IA peut être incorrect.">
            <a:extLst>
              <a:ext uri="{FF2B5EF4-FFF2-40B4-BE49-F238E27FC236}">
                <a16:creationId xmlns:a16="http://schemas.microsoft.com/office/drawing/2014/main" id="{790526AE-E9A0-2C5F-5478-FE486A4A2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284" y="1490885"/>
            <a:ext cx="2800000" cy="2971800"/>
          </a:xfrm>
          <a:prstGeom prst="rect">
            <a:avLst/>
          </a:prstGeom>
        </p:spPr>
      </p:pic>
      <p:pic>
        <p:nvPicPr>
          <p:cNvPr id="28" name="Image 27" descr="Une image contenant texte, capture d’écran, Police, ligne  Le contenu généré par l’IA peut être incorrect.">
            <a:extLst>
              <a:ext uri="{FF2B5EF4-FFF2-40B4-BE49-F238E27FC236}">
                <a16:creationId xmlns:a16="http://schemas.microsoft.com/office/drawing/2014/main" id="{8F1F1F1C-E0D8-AE61-9C9E-1EA006461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84848"/>
            <a:ext cx="7938040" cy="1538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3C0E-A5D4-2EDB-5B8C-1B551631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EEB46E-6534-B753-7BAD-FB2BB61C32B4}"/>
              </a:ext>
            </a:extLst>
          </p:cNvPr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et analyse exploratoire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8EA263-8FC3-CF00-DD19-E4AF87683AAB}"/>
              </a:ext>
            </a:extLst>
          </p:cNvPr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</a:rPr>
              <a:t>Dataset Kaggle customer_churn.csv : 10 000 clients, 32 variables </a:t>
            </a:r>
            <a:r>
              <a:rPr lang="en-US" sz="1050" dirty="0" err="1">
                <a:solidFill>
                  <a:srgbClr val="64748B"/>
                </a:solidFill>
              </a:rPr>
              <a:t>initiales</a:t>
            </a:r>
            <a:r>
              <a:rPr lang="en-US" sz="1050" dirty="0">
                <a:solidFill>
                  <a:srgbClr val="64748B"/>
                </a:solidFill>
              </a:rPr>
              <a:t> 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951952-8EE6-C2D4-676D-A8692F501015}"/>
              </a:ext>
            </a:extLst>
          </p:cNvPr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Image 7" descr="Une image contenant texte, diagramme, Tracé, Police  Le contenu généré par l’IA peut être incorrect.">
            <a:extLst>
              <a:ext uri="{FF2B5EF4-FFF2-40B4-BE49-F238E27FC236}">
                <a16:creationId xmlns:a16="http://schemas.microsoft.com/office/drawing/2014/main" id="{F47B5EEF-53EB-45A6-246D-218A83A50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32089"/>
            <a:ext cx="11186160" cy="3209350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6FDB78DF-5C46-4F2C-EEB8-42856DABB425}"/>
              </a:ext>
            </a:extLst>
          </p:cNvPr>
          <p:cNvSpPr/>
          <p:nvPr/>
        </p:nvSpPr>
        <p:spPr>
          <a:xfrm>
            <a:off x="502920" y="481948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Signaux métier observés</a:t>
            </a:r>
            <a:endParaRPr lang="en-US" sz="190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76EA736D-E9A0-1003-A78B-EE5531DB5C54}"/>
              </a:ext>
            </a:extLst>
          </p:cNvPr>
          <p:cNvSpPr/>
          <p:nvPr/>
        </p:nvSpPr>
        <p:spPr>
          <a:xfrm>
            <a:off x="502920" y="5044992"/>
            <a:ext cx="7113169" cy="97832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0F172A"/>
                </a:solidFill>
              </a:rPr>
              <a:t>Les clients très récents churnent davantage : 32,12 % pour 0–3 mois vs 7,83 % au-delà de 25 mois.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Les churners ont plus d’échecs de paiement : 0,74 en moyenne vs 0,47.</a:t>
            </a:r>
            <a:endParaRPr lang="en-US" sz="1300" dirty="0"/>
          </a:p>
          <a:p>
            <a:r>
              <a:rPr lang="en-US" sz="1300" dirty="0">
                <a:solidFill>
                  <a:srgbClr val="0F172A"/>
                </a:solidFill>
              </a:rPr>
              <a:t>Le NPS est conservé mais moins discriminant dans l’EDA simple.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85203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EF7D-91E3-5BDE-3FC6-F243FA63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0214D4-8CFC-729D-69B8-879D28AD556F}"/>
              </a:ext>
            </a:extLst>
          </p:cNvPr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et analyse exploratoire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60BCB8-834C-8F4F-0BEE-07530DB2DDC9}"/>
              </a:ext>
            </a:extLst>
          </p:cNvPr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64748B"/>
                </a:solidFill>
              </a:rPr>
              <a:t>Dataset Kaggle customer_churn.csv : 10 000 clients, 32 variables </a:t>
            </a:r>
            <a:r>
              <a:rPr lang="en-US" sz="1050" dirty="0" err="1">
                <a:solidFill>
                  <a:srgbClr val="64748B"/>
                </a:solidFill>
              </a:rPr>
              <a:t>initiales</a:t>
            </a:r>
            <a:r>
              <a:rPr lang="en-US" sz="1050" dirty="0">
                <a:solidFill>
                  <a:srgbClr val="64748B"/>
                </a:solidFill>
              </a:rPr>
              <a:t> 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A03C0F-11C1-2838-BD0F-CEBC83770ED1}"/>
              </a:ext>
            </a:extLst>
          </p:cNvPr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4B1986-E4A6-1BD4-EB7E-5DB0D36D1129}"/>
              </a:ext>
            </a:extLst>
          </p:cNvPr>
          <p:cNvSpPr/>
          <p:nvPr/>
        </p:nvSpPr>
        <p:spPr>
          <a:xfrm>
            <a:off x="2039112" y="150840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</a:rPr>
              <a:t>Répartition de la cible</a:t>
            </a:r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83AA852-B937-FAFA-1312-53680D51F896}"/>
              </a:ext>
            </a:extLst>
          </p:cNvPr>
          <p:cNvSpPr/>
          <p:nvPr/>
        </p:nvSpPr>
        <p:spPr>
          <a:xfrm>
            <a:off x="6165197" y="1706484"/>
            <a:ext cx="5569208" cy="193968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437211F-FEC8-3BD4-1587-653B7920723C}"/>
              </a:ext>
            </a:extLst>
          </p:cNvPr>
          <p:cNvSpPr/>
          <p:nvPr/>
        </p:nvSpPr>
        <p:spPr>
          <a:xfrm>
            <a:off x="6485237" y="1953371"/>
            <a:ext cx="3478226" cy="490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2400E"/>
                </a:solidFill>
              </a:rPr>
              <a:t>Impact méthodologique</a:t>
            </a:r>
            <a:endParaRPr lang="en-US" sz="17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EC2A3EA-7E58-6A27-8D9C-3A39ED7EC332}"/>
              </a:ext>
            </a:extLst>
          </p:cNvPr>
          <p:cNvSpPr/>
          <p:nvPr/>
        </p:nvSpPr>
        <p:spPr>
          <a:xfrm>
            <a:off x="6485236" y="2409188"/>
            <a:ext cx="4803162" cy="95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</a:rPr>
              <a:t>Classe positive rare → </a:t>
            </a:r>
            <a:r>
              <a:rPr lang="en-US" sz="1600" dirty="0" err="1">
                <a:solidFill>
                  <a:srgbClr val="0F172A"/>
                </a:solidFill>
              </a:rPr>
              <a:t>l’accuracy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seule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serait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trompeuse</a:t>
            </a:r>
            <a:r>
              <a:rPr lang="en-US" sz="1600" dirty="0">
                <a:solidFill>
                  <a:srgbClr val="0F172A"/>
                </a:solidFill>
              </a:rPr>
              <a:t>. Les </a:t>
            </a:r>
            <a:r>
              <a:rPr lang="en-US" sz="1600" dirty="0" err="1">
                <a:solidFill>
                  <a:srgbClr val="0F172A"/>
                </a:solidFill>
              </a:rPr>
              <a:t>métriques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clés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sont</a:t>
            </a:r>
            <a:r>
              <a:rPr lang="en-US" sz="1600" dirty="0">
                <a:solidFill>
                  <a:srgbClr val="0F172A"/>
                </a:solidFill>
              </a:rPr>
              <a:t> Recall, F1, ROC-AUC et surtout PR-AUC.</a:t>
            </a:r>
            <a:endParaRPr lang="en-US" sz="1600" dirty="0"/>
          </a:p>
        </p:txBody>
      </p:sp>
      <p:pic>
        <p:nvPicPr>
          <p:cNvPr id="25" name="Image 24" descr="Une image contenant texte, capture d’écran, Police, cercle  Le contenu généré par l’IA peut être incorrect.">
            <a:extLst>
              <a:ext uri="{FF2B5EF4-FFF2-40B4-BE49-F238E27FC236}">
                <a16:creationId xmlns:a16="http://schemas.microsoft.com/office/drawing/2014/main" id="{024DDC42-AB48-2597-34EE-9722A5327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6458"/>
            <a:ext cx="5358950" cy="4104937"/>
          </a:xfrm>
          <a:prstGeom prst="rect">
            <a:avLst/>
          </a:prstGeom>
        </p:spPr>
      </p:pic>
      <p:sp>
        <p:nvSpPr>
          <p:cNvPr id="5" name="Shape 19">
            <a:extLst>
              <a:ext uri="{FF2B5EF4-FFF2-40B4-BE49-F238E27FC236}">
                <a16:creationId xmlns:a16="http://schemas.microsoft.com/office/drawing/2014/main" id="{567F2077-5555-30C7-2998-21634F724A3B}"/>
              </a:ext>
            </a:extLst>
          </p:cNvPr>
          <p:cNvSpPr/>
          <p:nvPr/>
        </p:nvSpPr>
        <p:spPr>
          <a:xfrm>
            <a:off x="6157500" y="3935492"/>
            <a:ext cx="5569208" cy="2481538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0">
            <a:extLst>
              <a:ext uri="{FF2B5EF4-FFF2-40B4-BE49-F238E27FC236}">
                <a16:creationId xmlns:a16="http://schemas.microsoft.com/office/drawing/2014/main" id="{A5B95EBC-C647-783B-762C-C4ADE01B0C5F}"/>
              </a:ext>
            </a:extLst>
          </p:cNvPr>
          <p:cNvSpPr/>
          <p:nvPr/>
        </p:nvSpPr>
        <p:spPr>
          <a:xfrm>
            <a:off x="6477540" y="4090280"/>
            <a:ext cx="3478226" cy="490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92400E"/>
                </a:solidFill>
              </a:rPr>
              <a:t>Définition</a:t>
            </a:r>
            <a:endParaRPr lang="fr-FR" dirty="0" err="1"/>
          </a:p>
        </p:txBody>
      </p:sp>
      <p:sp>
        <p:nvSpPr>
          <p:cNvPr id="7" name="Text 21">
            <a:extLst>
              <a:ext uri="{FF2B5EF4-FFF2-40B4-BE49-F238E27FC236}">
                <a16:creationId xmlns:a16="http://schemas.microsoft.com/office/drawing/2014/main" id="{4144B460-8461-3100-93FD-0A258AF58A15}"/>
              </a:ext>
            </a:extLst>
          </p:cNvPr>
          <p:cNvSpPr/>
          <p:nvPr/>
        </p:nvSpPr>
        <p:spPr>
          <a:xfrm>
            <a:off x="6485236" y="4639299"/>
            <a:ext cx="4803162" cy="1650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 err="1">
                <a:solidFill>
                  <a:srgbClr val="0F172A"/>
                </a:solidFill>
              </a:rPr>
              <a:t>Précision</a:t>
            </a:r>
            <a:r>
              <a:rPr lang="en-US" sz="1600" dirty="0">
                <a:solidFill>
                  <a:srgbClr val="0F172A"/>
                </a:solidFill>
              </a:rPr>
              <a:t>: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Pourcentage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total de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bonnes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prédictions</a:t>
            </a:r>
            <a:endParaRPr lang="en-US" sz="1600" dirty="0" err="1">
              <a:solidFill>
                <a:srgbClr val="0F172A"/>
              </a:solidFill>
            </a:endParaRPr>
          </a:p>
          <a:p>
            <a:r>
              <a:rPr lang="en-US" b="1" dirty="0">
                <a:solidFill>
                  <a:srgbClr val="0F172A"/>
                </a:solidFill>
              </a:rPr>
              <a:t>Recall</a:t>
            </a:r>
            <a:r>
              <a:rPr lang="en-US" sz="1600" b="1" dirty="0">
                <a:solidFill>
                  <a:srgbClr val="0F172A"/>
                </a:solidFill>
              </a:rPr>
              <a:t> </a:t>
            </a:r>
            <a:r>
              <a:rPr lang="en-US" sz="1600" dirty="0">
                <a:solidFill>
                  <a:srgbClr val="0F172A"/>
                </a:solidFill>
              </a:rPr>
              <a:t>: </a:t>
            </a:r>
            <a:r>
              <a:rPr lang="en-US" sz="1600" dirty="0" err="1">
                <a:solidFill>
                  <a:srgbClr val="0F172A"/>
                </a:solidFill>
              </a:rPr>
              <a:t>parmi</a:t>
            </a:r>
            <a:r>
              <a:rPr lang="en-US" sz="1600" dirty="0">
                <a:solidFill>
                  <a:srgbClr val="0F172A"/>
                </a:solidFill>
              </a:rPr>
              <a:t> les </a:t>
            </a:r>
            <a:r>
              <a:rPr lang="en-US" sz="1600" dirty="0" err="1">
                <a:solidFill>
                  <a:srgbClr val="0F172A"/>
                </a:solidFill>
              </a:rPr>
              <a:t>churneur</a:t>
            </a:r>
            <a:r>
              <a:rPr lang="en-US" sz="1600" dirty="0">
                <a:solidFill>
                  <a:srgbClr val="0F172A"/>
                </a:solidFill>
              </a:rPr>
              <a:t>, </a:t>
            </a:r>
            <a:r>
              <a:rPr lang="en-US" sz="1600" dirty="0" err="1">
                <a:solidFill>
                  <a:srgbClr val="0F172A"/>
                </a:solidFill>
              </a:rPr>
              <a:t>combien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dirty="0" err="1">
                <a:solidFill>
                  <a:srgbClr val="0F172A"/>
                </a:solidFill>
              </a:rPr>
              <a:t>sont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détécté</a:t>
            </a:r>
            <a:endParaRPr lang="en-US" sz="1600" dirty="0">
              <a:solidFill>
                <a:srgbClr val="0F172A"/>
              </a:solidFill>
            </a:endParaRPr>
          </a:p>
          <a:p>
            <a:r>
              <a:rPr lang="en-US" sz="1600" dirty="0">
                <a:solidFill>
                  <a:srgbClr val="0F172A"/>
                </a:solidFill>
              </a:rPr>
              <a:t>F1 :  </a:t>
            </a:r>
            <a:r>
              <a:rPr lang="en-US" sz="1600" dirty="0" err="1">
                <a:solidFill>
                  <a:srgbClr val="0F172A"/>
                </a:solidFill>
              </a:rPr>
              <a:t>moyenne</a:t>
            </a:r>
            <a:r>
              <a:rPr lang="en-US" sz="1600" dirty="0">
                <a:solidFill>
                  <a:srgbClr val="0F172A"/>
                </a:solidFill>
              </a:rPr>
              <a:t> entre precision et recall</a:t>
            </a:r>
          </a:p>
          <a:p>
            <a:r>
              <a:rPr lang="en-US" b="1" dirty="0" err="1">
                <a:solidFill>
                  <a:srgbClr val="0F172A"/>
                </a:solidFill>
              </a:rPr>
              <a:t>Roc_auc</a:t>
            </a:r>
            <a:r>
              <a:rPr lang="en-US" sz="1600" dirty="0">
                <a:solidFill>
                  <a:srgbClr val="0F172A"/>
                </a:solidFill>
              </a:rPr>
              <a:t> : </a:t>
            </a:r>
            <a:r>
              <a:rPr lang="en-US" sz="1600" dirty="0" err="1">
                <a:solidFill>
                  <a:srgbClr val="0F172A"/>
                </a:solidFill>
              </a:rPr>
              <a:t>capacité</a:t>
            </a:r>
            <a:r>
              <a:rPr lang="en-US" sz="1600" dirty="0">
                <a:solidFill>
                  <a:srgbClr val="0F172A"/>
                </a:solidFill>
              </a:rPr>
              <a:t> à </a:t>
            </a:r>
            <a:r>
              <a:rPr lang="en-US" sz="1600" dirty="0" err="1">
                <a:solidFill>
                  <a:srgbClr val="0F172A"/>
                </a:solidFill>
              </a:rPr>
              <a:t>trouver</a:t>
            </a:r>
            <a:r>
              <a:rPr lang="en-US" sz="1600" dirty="0">
                <a:solidFill>
                  <a:srgbClr val="0F172A"/>
                </a:solidFill>
              </a:rPr>
              <a:t> les churn / non churn</a:t>
            </a:r>
          </a:p>
          <a:p>
            <a:r>
              <a:rPr lang="en-US" b="1" dirty="0" err="1">
                <a:solidFill>
                  <a:srgbClr val="0F172A"/>
                </a:solidFill>
              </a:rPr>
              <a:t>Pr_auc</a:t>
            </a:r>
            <a:r>
              <a:rPr lang="en-US" sz="1600" dirty="0">
                <a:solidFill>
                  <a:srgbClr val="0F172A"/>
                </a:solidFill>
              </a:rPr>
              <a:t> : 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Score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basé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sur precision + recall (utile dans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notre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cas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car le churn est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minoritaire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)</a:t>
            </a:r>
          </a:p>
          <a:p>
            <a:endParaRPr lang="en-US" sz="1600" dirty="0">
              <a:solidFill>
                <a:srgbClr val="0F17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372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préparation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Un pipeline reproductible pour éviter le data leakage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52566" y="1488495"/>
            <a:ext cx="1920000" cy="2500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87566" y="1913495"/>
            <a:ext cx="1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Dataset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7566" y="2588495"/>
            <a:ext cx="18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Chargement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+ sélection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320566" y="2498495"/>
            <a:ext cx="380000" cy="4800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8566" y="1488495"/>
            <a:ext cx="1920000" cy="2500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83566" y="1913495"/>
            <a:ext cx="1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Split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2783566" y="2588495"/>
            <a:ext cx="18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Train/test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stratifié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716566" y="2498495"/>
            <a:ext cx="380000" cy="4800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144566" y="1488495"/>
            <a:ext cx="1920000" cy="2500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5179566" y="1913495"/>
            <a:ext cx="1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2563EB"/>
                </a:solidFill>
              </a:rPr>
              <a:t>Prétraitement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79566" y="2588495"/>
            <a:ext cx="18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Imputation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+ encodage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+ scaling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7112566" y="2498495"/>
            <a:ext cx="380000" cy="4800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540566" y="1488495"/>
            <a:ext cx="1920000" cy="2500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575566" y="1913495"/>
            <a:ext cx="1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Modèles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7575566" y="2588495"/>
            <a:ext cx="18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4 algorithmes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comparés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9508566" y="2498495"/>
            <a:ext cx="380000" cy="48000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9936566" y="1488495"/>
            <a:ext cx="1920000" cy="2500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971566" y="1913495"/>
            <a:ext cx="1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F172A"/>
                </a:solidFill>
              </a:rPr>
              <a:t>Sauvegarde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9971566" y="2588495"/>
            <a:ext cx="185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Modèle final</a:t>
            </a:r>
            <a:endParaRPr lang="en-US" sz="1400"/>
          </a:p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+ config</a:t>
            </a:r>
            <a:endParaRPr lang="en-US" sz="140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BB46754C-03EB-8C40-8230-48D856F183C6}"/>
              </a:ext>
            </a:extLst>
          </p:cNvPr>
          <p:cNvSpPr/>
          <p:nvPr/>
        </p:nvSpPr>
        <p:spPr>
          <a:xfrm>
            <a:off x="2720339" y="4469129"/>
            <a:ext cx="6743701" cy="1783079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77B11E8-7BA0-CF9C-C69A-ABA560A630FF}"/>
              </a:ext>
            </a:extLst>
          </p:cNvPr>
          <p:cNvSpPr/>
          <p:nvPr/>
        </p:nvSpPr>
        <p:spPr>
          <a:xfrm>
            <a:off x="2995436" y="4641133"/>
            <a:ext cx="6162084" cy="490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</a:rPr>
              <a:t>Split</a:t>
            </a: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EA08F0DE-625C-FF3B-8D25-8A1AF59493E8}"/>
              </a:ext>
            </a:extLst>
          </p:cNvPr>
          <p:cNvSpPr/>
          <p:nvPr/>
        </p:nvSpPr>
        <p:spPr>
          <a:xfrm>
            <a:off x="2995436" y="4859610"/>
            <a:ext cx="8512011" cy="131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</a:rPr>
              <a:t>80% train / 20% test</a:t>
            </a:r>
          </a:p>
          <a:p>
            <a:r>
              <a:rPr lang="en-US" sz="1600" dirty="0" err="1">
                <a:solidFill>
                  <a:srgbClr val="0F172A"/>
                </a:solidFill>
              </a:rPr>
              <a:t>Découpage</a:t>
            </a:r>
            <a:r>
              <a:rPr lang="en-US" sz="1600" dirty="0">
                <a:solidFill>
                  <a:srgbClr val="0F172A"/>
                </a:solidFill>
              </a:rPr>
              <a:t> </a:t>
            </a:r>
            <a:r>
              <a:rPr lang="en-US" sz="1600" dirty="0" err="1">
                <a:solidFill>
                  <a:srgbClr val="0F172A"/>
                </a:solidFill>
              </a:rPr>
              <a:t>statifié</a:t>
            </a:r>
            <a:r>
              <a:rPr lang="en-US" sz="1600" dirty="0">
                <a:solidFill>
                  <a:srgbClr val="0F172A"/>
                </a:solidFill>
              </a:rPr>
              <a:t> pour </a:t>
            </a:r>
            <a:r>
              <a:rPr lang="en-US" sz="1600" dirty="0" err="1">
                <a:solidFill>
                  <a:srgbClr val="0F172A"/>
                </a:solidFill>
              </a:rPr>
              <a:t>gardé</a:t>
            </a:r>
            <a:r>
              <a:rPr lang="en-US" sz="1600" dirty="0">
                <a:solidFill>
                  <a:srgbClr val="0F172A"/>
                </a:solidFill>
              </a:rPr>
              <a:t> le </a:t>
            </a:r>
            <a:r>
              <a:rPr lang="en-US" sz="1600" dirty="0" err="1">
                <a:solidFill>
                  <a:srgbClr val="0F172A"/>
                </a:solidFill>
              </a:rPr>
              <a:t>même</a:t>
            </a:r>
            <a:r>
              <a:rPr lang="en-US" sz="1600" dirty="0">
                <a:solidFill>
                  <a:srgbClr val="0F172A"/>
                </a:solidFill>
              </a:rPr>
              <a:t> % de churn dans le test / train</a:t>
            </a:r>
          </a:p>
          <a:p>
            <a:r>
              <a:rPr lang="en-US" sz="1600" dirty="0">
                <a:solidFill>
                  <a:srgbClr val="0F172A"/>
                </a:solidFill>
              </a:rPr>
              <a:t>Validation </a:t>
            </a:r>
            <a:r>
              <a:rPr lang="en-US" sz="1600" dirty="0" err="1">
                <a:solidFill>
                  <a:srgbClr val="0F172A"/>
                </a:solidFill>
              </a:rPr>
              <a:t>croisée</a:t>
            </a:r>
            <a:r>
              <a:rPr lang="en-US" sz="1600" dirty="0">
                <a:solidFill>
                  <a:srgbClr val="0F172A"/>
                </a:solidFill>
              </a:rPr>
              <a:t> pour </a:t>
            </a:r>
            <a:r>
              <a:rPr lang="en-US" sz="1600" dirty="0" err="1">
                <a:solidFill>
                  <a:srgbClr val="0F172A"/>
                </a:solidFill>
              </a:rPr>
              <a:t>évaluer</a:t>
            </a:r>
            <a:r>
              <a:rPr lang="en-US" sz="1600" dirty="0">
                <a:solidFill>
                  <a:srgbClr val="0F172A"/>
                </a:solidFill>
              </a:rPr>
              <a:t> le </a:t>
            </a:r>
            <a:r>
              <a:rPr lang="en-US" sz="1600" dirty="0" err="1">
                <a:solidFill>
                  <a:srgbClr val="0F172A"/>
                </a:solidFill>
              </a:rPr>
              <a:t>modèle</a:t>
            </a:r>
            <a:r>
              <a:rPr lang="en-US" sz="1600" dirty="0">
                <a:solidFill>
                  <a:srgbClr val="0F172A"/>
                </a:solidFill>
              </a:rPr>
              <a:t> de manière plus </a:t>
            </a:r>
            <a:r>
              <a:rPr lang="en-US" sz="1600" dirty="0" err="1">
                <a:solidFill>
                  <a:srgbClr val="0F172A"/>
                </a:solidFill>
              </a:rPr>
              <a:t>fiable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EEA3-66A0-A3C6-AEDA-B4B246DE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C0716F5-9035-0ECF-5A39-473623F82933}"/>
              </a:ext>
            </a:extLst>
          </p:cNvPr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préparation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2745AD-E6AE-13E4-52A0-87599D2B5EF4}"/>
              </a:ext>
            </a:extLst>
          </p:cNvPr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Un pipeline reproductible pour éviter le data leakage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347862-0520-EC76-5A8F-E3B5AC802F68}"/>
              </a:ext>
            </a:extLst>
          </p:cNvPr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Police, capture d’écran, ligne  Le contenu généré par l’IA peut être incorrect.">
            <a:extLst>
              <a:ext uri="{FF2B5EF4-FFF2-40B4-BE49-F238E27FC236}">
                <a16:creationId xmlns:a16="http://schemas.microsoft.com/office/drawing/2014/main" id="{9455990E-2366-C197-F580-1E9303BEA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10" y="1714036"/>
            <a:ext cx="9639070" cy="907568"/>
          </a:xfrm>
          <a:prstGeom prst="rect">
            <a:avLst/>
          </a:prstGeom>
        </p:spPr>
      </p:pic>
      <p:sp>
        <p:nvSpPr>
          <p:cNvPr id="6" name="Text 24">
            <a:extLst>
              <a:ext uri="{FF2B5EF4-FFF2-40B4-BE49-F238E27FC236}">
                <a16:creationId xmlns:a16="http://schemas.microsoft.com/office/drawing/2014/main" id="{0284B89C-F4D9-5100-11AF-48EFB5258EB8}"/>
              </a:ext>
            </a:extLst>
          </p:cNvPr>
          <p:cNvSpPr/>
          <p:nvPr/>
        </p:nvSpPr>
        <p:spPr>
          <a:xfrm>
            <a:off x="502920" y="1272607"/>
            <a:ext cx="1118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F172A"/>
                </a:solidFill>
              </a:rPr>
              <a:t>2 type de features</a:t>
            </a:r>
            <a:endParaRPr lang="fr-FR"/>
          </a:p>
        </p:txBody>
      </p:sp>
      <p:pic>
        <p:nvPicPr>
          <p:cNvPr id="7" name="Image 6" descr="Une image contenant texte, capture d’écran, Police  Le contenu généré par l’IA peut être incorrect.">
            <a:extLst>
              <a:ext uri="{FF2B5EF4-FFF2-40B4-BE49-F238E27FC236}">
                <a16:creationId xmlns:a16="http://schemas.microsoft.com/office/drawing/2014/main" id="{FFE550A3-DB8B-1BFF-C147-4599DDFCC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55" y="3331394"/>
            <a:ext cx="4569444" cy="1118849"/>
          </a:xfrm>
          <a:prstGeom prst="rect">
            <a:avLst/>
          </a:prstGeom>
        </p:spPr>
      </p:pic>
      <p:sp>
        <p:nvSpPr>
          <p:cNvPr id="8" name="Text 24">
            <a:extLst>
              <a:ext uri="{FF2B5EF4-FFF2-40B4-BE49-F238E27FC236}">
                <a16:creationId xmlns:a16="http://schemas.microsoft.com/office/drawing/2014/main" id="{49887911-E1AD-2780-A1B0-24DD3CBCF98E}"/>
              </a:ext>
            </a:extLst>
          </p:cNvPr>
          <p:cNvSpPr/>
          <p:nvPr/>
        </p:nvSpPr>
        <p:spPr>
          <a:xfrm>
            <a:off x="502920" y="2865879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F172A"/>
                </a:solidFill>
              </a:rPr>
              <a:t>Feature numeric</a:t>
            </a:r>
            <a:endParaRPr lang="fr-FR"/>
          </a:p>
        </p:txBody>
      </p:sp>
      <p:pic>
        <p:nvPicPr>
          <p:cNvPr id="9" name="Image 8" descr="Une image contenant texte, capture d’écran, Police  Le contenu généré par l’IA peut être incorrect.">
            <a:extLst>
              <a:ext uri="{FF2B5EF4-FFF2-40B4-BE49-F238E27FC236}">
                <a16:creationId xmlns:a16="http://schemas.microsoft.com/office/drawing/2014/main" id="{C561EC02-B593-1C8C-4CF9-162CA9A3B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13" y="3321146"/>
            <a:ext cx="4800354" cy="1123950"/>
          </a:xfrm>
          <a:prstGeom prst="rect">
            <a:avLst/>
          </a:prstGeom>
        </p:spPr>
      </p:pic>
      <p:sp>
        <p:nvSpPr>
          <p:cNvPr id="10" name="Text 24">
            <a:extLst>
              <a:ext uri="{FF2B5EF4-FFF2-40B4-BE49-F238E27FC236}">
                <a16:creationId xmlns:a16="http://schemas.microsoft.com/office/drawing/2014/main" id="{9130BF25-8951-7297-97EC-79FB84A8732A}"/>
              </a:ext>
            </a:extLst>
          </p:cNvPr>
          <p:cNvSpPr/>
          <p:nvPr/>
        </p:nvSpPr>
        <p:spPr>
          <a:xfrm>
            <a:off x="5800000" y="2865879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F172A"/>
                </a:solidFill>
              </a:rPr>
              <a:t>Feature categoric</a:t>
            </a:r>
            <a:endParaRPr lang="fr-FR"/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794B6523-435F-1E25-53BA-20193D1D61C4}"/>
              </a:ext>
            </a:extLst>
          </p:cNvPr>
          <p:cNvSpPr/>
          <p:nvPr/>
        </p:nvSpPr>
        <p:spPr>
          <a:xfrm>
            <a:off x="502920" y="4539240"/>
            <a:ext cx="4803162" cy="131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SimpleImputer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: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remplace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les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valeurs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manquante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par la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médiane</a:t>
            </a:r>
            <a:endParaRPr lang="en-US" sz="1600" dirty="0">
              <a:solidFill>
                <a:srgbClr val="0F172A"/>
              </a:solidFill>
              <a:ea typeface="+mn-lt"/>
              <a:cs typeface="+mn-lt"/>
            </a:endParaRPr>
          </a:p>
          <a:p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StandardScaler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: met les variables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numériques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sur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une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échelle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comparable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35F274ED-D9BF-8C79-C550-F54CB6A4983C}"/>
              </a:ext>
            </a:extLst>
          </p:cNvPr>
          <p:cNvSpPr/>
          <p:nvPr/>
        </p:nvSpPr>
        <p:spPr>
          <a:xfrm>
            <a:off x="5800000" y="4539240"/>
            <a:ext cx="4803162" cy="1312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SimpleImputer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: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remplace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les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valeurs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manquante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par la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valeur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la plus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fréquente</a:t>
            </a:r>
          </a:p>
          <a:p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OneHotEncoder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: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transforme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les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catégories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en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F172A"/>
                </a:solidFill>
                <a:ea typeface="+mn-lt"/>
                <a:cs typeface="+mn-lt"/>
              </a:rPr>
              <a:t>colonnes</a:t>
            </a:r>
            <a:r>
              <a:rPr lang="en-US" sz="1600" dirty="0">
                <a:solidFill>
                  <a:srgbClr val="0F172A"/>
                </a:solidFill>
                <a:ea typeface="+mn-lt"/>
                <a:cs typeface="+mn-lt"/>
              </a:rPr>
              <a:t> numérique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7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Modélisation multi-algorithmes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Objectif : comparer performance, stabilité, interprétabilité et coût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85800" y="1500000"/>
            <a:ext cx="2240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820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70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 err="1">
                <a:solidFill>
                  <a:srgbClr val="0F172A"/>
                </a:solidFill>
                <a:ea typeface="+mn-lt"/>
                <a:cs typeface="+mn-lt"/>
              </a:rPr>
              <a:t>modèle</a:t>
            </a:r>
            <a:r>
              <a:rPr lang="en-US" sz="1200" dirty="0">
                <a:solidFill>
                  <a:srgbClr val="0F172A"/>
                </a:solidFill>
                <a:ea typeface="+mn-lt"/>
                <a:cs typeface="+mn-lt"/>
              </a:rPr>
              <a:t> simple de classification</a:t>
            </a:r>
            <a:endParaRPr lang="fr-FR" dirty="0"/>
          </a:p>
        </p:txBody>
      </p:sp>
      <p:pic>
        <p:nvPicPr>
          <p:cNvPr id="8" name="Image 7" descr="Une image contenant texte, Police, capture d’écran  Le contenu généré par l’IA peut être incorrect.">
            <a:extLst>
              <a:ext uri="{FF2B5EF4-FFF2-40B4-BE49-F238E27FC236}">
                <a16:creationId xmlns:a16="http://schemas.microsoft.com/office/drawing/2014/main" id="{D2FDB340-E69D-5625-A7C6-26F3A46DE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" y="4315710"/>
            <a:ext cx="4648200" cy="188595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0BCE314-C289-DFBE-007A-C17659671B9D}"/>
              </a:ext>
            </a:extLst>
          </p:cNvPr>
          <p:cNvSpPr/>
          <p:nvPr/>
        </p:nvSpPr>
        <p:spPr>
          <a:xfrm>
            <a:off x="6473402" y="4287910"/>
            <a:ext cx="5011860" cy="1856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modèle correct, </a:t>
            </a:r>
            <a:r>
              <a:rPr lang="fr-FR" sz="1600" dirty="0" err="1">
                <a:solidFill>
                  <a:schemeClr val="tx1"/>
                </a:solidFill>
                <a:ea typeface="+mn-lt"/>
                <a:cs typeface="+mn-lt"/>
              </a:rPr>
              <a:t>recall</a:t>
            </a:r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 intéressant, mais des performances globales limitées et un F1-score faible</a:t>
            </a:r>
            <a:endParaRPr lang="fr-FR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929C2CE-B968-0D64-A687-7F3AF7659F25}"/>
              </a:ext>
            </a:extLst>
          </p:cNvPr>
          <p:cNvSpPr txBox="1"/>
          <p:nvPr/>
        </p:nvSpPr>
        <p:spPr>
          <a:xfrm>
            <a:off x="3136020" y="1760403"/>
            <a:ext cx="260693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 sz="1600" dirty="0"/>
              <a:t>1000 </a:t>
            </a:r>
            <a:r>
              <a:rPr lang="fr-FR" sz="1600" dirty="0" err="1"/>
              <a:t>iterations</a:t>
            </a:r>
          </a:p>
          <a:p>
            <a:pPr marL="285750" indent="-285750">
              <a:buFont typeface="Calibri"/>
              <a:buChar char="-"/>
            </a:pPr>
            <a:r>
              <a:rPr lang="fr-FR" sz="1600" err="1"/>
              <a:t>Class_weight</a:t>
            </a:r>
            <a:r>
              <a:rPr lang="fr-FR" sz="1600" dirty="0"/>
              <a:t> </a:t>
            </a:r>
            <a:r>
              <a:rPr lang="fr-FR" sz="1600" err="1"/>
              <a:t>balanced</a:t>
            </a:r>
            <a:r>
              <a:rPr lang="fr-FR" sz="1600" dirty="0"/>
              <a:t> pour </a:t>
            </a:r>
            <a:r>
              <a:rPr lang="en-US" sz="1600" dirty="0">
                <a:solidFill>
                  <a:srgbClr val="0F172A"/>
                </a:solidFill>
              </a:rPr>
              <a:t>donner plus </a:t>
            </a:r>
            <a:r>
              <a:rPr lang="en-US" sz="1600" err="1">
                <a:solidFill>
                  <a:srgbClr val="0F172A"/>
                </a:solidFill>
              </a:rPr>
              <a:t>d'importance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err="1">
                <a:solidFill>
                  <a:srgbClr val="0F172A"/>
                </a:solidFill>
              </a:rPr>
              <a:t>àla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err="1">
                <a:solidFill>
                  <a:srgbClr val="0F172A"/>
                </a:solidFill>
              </a:rPr>
              <a:t>classe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err="1">
                <a:solidFill>
                  <a:srgbClr val="0F172A"/>
                </a:solidFill>
              </a:rPr>
              <a:t>minoritaire</a:t>
            </a:r>
            <a:endParaRPr lang="fr-FR" sz="1600"/>
          </a:p>
          <a:p>
            <a:endParaRPr lang="fr-FR" sz="1600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11FDE42-C98D-B525-6E29-524B2642A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547949"/>
              </p:ext>
            </p:extLst>
          </p:nvPr>
        </p:nvGraphicFramePr>
        <p:xfrm>
          <a:off x="6080760" y="1820000"/>
          <a:ext cx="5797144" cy="1188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98572">
                  <a:extLst>
                    <a:ext uri="{9D8B030D-6E8A-4147-A177-3AD203B41FA5}">
                      <a16:colId xmlns:a16="http://schemas.microsoft.com/office/drawing/2014/main" val="3095843017"/>
                    </a:ext>
                  </a:extLst>
                </a:gridCol>
                <a:gridCol w="2898572">
                  <a:extLst>
                    <a:ext uri="{9D8B030D-6E8A-4147-A177-3AD203B41FA5}">
                      <a16:colId xmlns:a16="http://schemas.microsoft.com/office/drawing/2014/main" val="1561732748"/>
                    </a:ext>
                  </a:extLst>
                </a:gridCol>
              </a:tblGrid>
              <a:tr h="365933">
                <a:tc>
                  <a:txBody>
                    <a:bodyPr/>
                    <a:lstStyle/>
                    <a:p>
                      <a:r>
                        <a:rPr lang="fr-FR" dirty="0"/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ea typeface="+mn-lt"/>
                          <a:cs typeface="+mn-lt"/>
                        </a:rPr>
                        <a:t>Inconvénients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88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Simple</a:t>
                      </a:r>
                      <a:endParaRPr lang="fr-FR" sz="1600" dirty="0"/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</a:rPr>
                        <a:t>Rapide</a:t>
                      </a:r>
                      <a:endParaRPr lang="en-US" sz="1600" dirty="0">
                        <a:solidFill>
                          <a:srgbClr val="0F172A"/>
                        </a:solidFill>
                      </a:endParaRPr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</a:rPr>
                        <a:t>Interprétable</a:t>
                      </a:r>
                      <a:endParaRPr lang="en-US" sz="160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</a:rPr>
                        <a:t>Peut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</a:rPr>
                        <a:t>avoir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</a:rPr>
                        <a:t> du mal avec les relations complexes entre les variables</a:t>
                      </a:r>
                      <a:endParaRPr lang="fr-FR" sz="16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9956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7483-69CF-0363-33A9-3AE7EB33D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C09A69F-000D-FF7E-EE82-CDC65DC7F8AD}"/>
              </a:ext>
            </a:extLst>
          </p:cNvPr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Modélisation multi-algorithmes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A794D3-BA84-3B84-139E-BF42DA976A8E}"/>
              </a:ext>
            </a:extLst>
          </p:cNvPr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Objectif : comparer performance, stabilité, interprétabilité et coût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591545-E965-3A57-9AFD-B2730AB4B179}"/>
              </a:ext>
            </a:extLst>
          </p:cNvPr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04E25CE-4C01-A69F-9956-BF9376000CD3}"/>
              </a:ext>
            </a:extLst>
          </p:cNvPr>
          <p:cNvSpPr/>
          <p:nvPr/>
        </p:nvSpPr>
        <p:spPr>
          <a:xfrm>
            <a:off x="685800" y="1500000"/>
            <a:ext cx="2240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E8E719A-2A35-B05E-96F4-626E2B6F226E}"/>
              </a:ext>
            </a:extLst>
          </p:cNvPr>
          <p:cNvSpPr/>
          <p:nvPr/>
        </p:nvSpPr>
        <p:spPr>
          <a:xfrm>
            <a:off x="822960" y="1820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7DF6E26-82A6-AE1E-FCD5-EF7207C70DD5}"/>
              </a:ext>
            </a:extLst>
          </p:cNvPr>
          <p:cNvSpPr/>
          <p:nvPr/>
        </p:nvSpPr>
        <p:spPr>
          <a:xfrm>
            <a:off x="868680" y="2370000"/>
            <a:ext cx="19621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ea typeface="+mn-lt"/>
                <a:cs typeface="+mn-lt"/>
              </a:rPr>
              <a:t>ensemble de </a:t>
            </a:r>
            <a:r>
              <a:rPr lang="en-US" sz="1200" dirty="0" err="1">
                <a:solidFill>
                  <a:srgbClr val="0F172A"/>
                </a:solidFill>
                <a:ea typeface="+mn-lt"/>
                <a:cs typeface="+mn-lt"/>
              </a:rPr>
              <a:t>plusieurs</a:t>
            </a:r>
            <a:r>
              <a:rPr lang="en-US" sz="1200" dirty="0">
                <a:solidFill>
                  <a:srgbClr val="0F172A"/>
                </a:solidFill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F172A"/>
                </a:solidFill>
                <a:ea typeface="+mn-lt"/>
                <a:cs typeface="+mn-lt"/>
              </a:rPr>
              <a:t>arbres</a:t>
            </a:r>
            <a:r>
              <a:rPr lang="en-US" sz="1200" dirty="0">
                <a:solidFill>
                  <a:srgbClr val="0F172A"/>
                </a:solidFill>
                <a:ea typeface="+mn-lt"/>
                <a:cs typeface="+mn-lt"/>
              </a:rPr>
              <a:t> de </a:t>
            </a:r>
            <a:r>
              <a:rPr lang="en-US" sz="1200" dirty="0" err="1">
                <a:solidFill>
                  <a:srgbClr val="0F172A"/>
                </a:solidFill>
                <a:ea typeface="+mn-lt"/>
                <a:cs typeface="+mn-lt"/>
              </a:rPr>
              <a:t>décision</a:t>
            </a:r>
            <a:endParaRPr lang="fr-FR" dirty="0" err="1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BEE46EB-64AC-D59F-F967-D4965F677428}"/>
              </a:ext>
            </a:extLst>
          </p:cNvPr>
          <p:cNvSpPr/>
          <p:nvPr/>
        </p:nvSpPr>
        <p:spPr>
          <a:xfrm>
            <a:off x="6550000" y="4334614"/>
            <a:ext cx="5011860" cy="1856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>
                <a:solidFill>
                  <a:schemeClr val="tx1"/>
                </a:solidFill>
                <a:ea typeface="+mn-lt"/>
                <a:cs typeface="+mn-lt"/>
              </a:rPr>
              <a:t>modèle le plus équilibré, avec la meilleure PR-AUC </a:t>
            </a:r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en validation croisée et une bonne interprétabilité grâce à l’importance des variables.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8" name="Image 7" descr="Une image contenant texte, Police, capture d’écran, typographie  Le contenu généré par l’IA peut être incorrect.">
            <a:extLst>
              <a:ext uri="{FF2B5EF4-FFF2-40B4-BE49-F238E27FC236}">
                <a16:creationId xmlns:a16="http://schemas.microsoft.com/office/drawing/2014/main" id="{85553B60-A4F8-03D3-793D-36DC4D3FE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" y="4350000"/>
            <a:ext cx="3886200" cy="188595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55323B2-C273-E660-0F58-DF2B0931D92D}"/>
              </a:ext>
            </a:extLst>
          </p:cNvPr>
          <p:cNvSpPr txBox="1"/>
          <p:nvPr/>
        </p:nvSpPr>
        <p:spPr>
          <a:xfrm>
            <a:off x="3136020" y="1760403"/>
            <a:ext cx="260693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 sz="1600"/>
              <a:t>200 arbres utilisé</a:t>
            </a:r>
            <a:endParaRPr lang="fr-FR" sz="1600" dirty="0"/>
          </a:p>
          <a:p>
            <a:pPr marL="285750" indent="-285750">
              <a:buFont typeface="Calibri"/>
              <a:buChar char="-"/>
            </a:pPr>
            <a:r>
              <a:rPr lang="fr-FR" sz="1600" dirty="0" err="1"/>
              <a:t>Class_weight</a:t>
            </a:r>
            <a:r>
              <a:rPr lang="fr-FR" sz="1600" dirty="0"/>
              <a:t> </a:t>
            </a:r>
            <a:r>
              <a:rPr lang="fr-FR" sz="1600" dirty="0" err="1"/>
              <a:t>balanced</a:t>
            </a:r>
            <a:r>
              <a:rPr lang="fr-FR" sz="1600" dirty="0"/>
              <a:t> pour </a:t>
            </a:r>
            <a:r>
              <a:rPr lang="en-US" sz="1600" dirty="0">
                <a:solidFill>
                  <a:srgbClr val="0F172A"/>
                </a:solidFill>
              </a:rPr>
              <a:t>donner plus </a:t>
            </a:r>
            <a:r>
              <a:rPr lang="en-US" sz="1600" dirty="0" err="1">
                <a:solidFill>
                  <a:srgbClr val="0F172A"/>
                </a:solidFill>
              </a:rPr>
              <a:t>d'importance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dirty="0" err="1">
                <a:solidFill>
                  <a:srgbClr val="0F172A"/>
                </a:solidFill>
              </a:rPr>
              <a:t>àla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dirty="0" err="1">
                <a:solidFill>
                  <a:srgbClr val="0F172A"/>
                </a:solidFill>
              </a:rPr>
              <a:t>classe</a:t>
            </a:r>
            <a:r>
              <a:rPr lang="en-US" sz="1600" dirty="0">
                <a:solidFill>
                  <a:srgbClr val="0F172A"/>
                </a:solidFill>
              </a:rPr>
              <a:t> </a:t>
            </a:r>
            <a:r>
              <a:rPr lang="en-US" sz="1600" dirty="0" err="1">
                <a:solidFill>
                  <a:srgbClr val="0F172A"/>
                </a:solidFill>
              </a:rPr>
              <a:t>minoritaire</a:t>
            </a:r>
            <a:endParaRPr lang="fr-FR" sz="1600" dirty="0"/>
          </a:p>
          <a:p>
            <a:endParaRPr lang="fr-FR" sz="1600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F5C4994-986B-35A0-60FA-D5A477C24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55466"/>
              </p:ext>
            </p:extLst>
          </p:nvPr>
        </p:nvGraphicFramePr>
        <p:xfrm>
          <a:off x="5998616" y="1653490"/>
          <a:ext cx="5797144" cy="16765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98572">
                  <a:extLst>
                    <a:ext uri="{9D8B030D-6E8A-4147-A177-3AD203B41FA5}">
                      <a16:colId xmlns:a16="http://schemas.microsoft.com/office/drawing/2014/main" val="3095843017"/>
                    </a:ext>
                  </a:extLst>
                </a:gridCol>
                <a:gridCol w="2898572">
                  <a:extLst>
                    <a:ext uri="{9D8B030D-6E8A-4147-A177-3AD203B41FA5}">
                      <a16:colId xmlns:a16="http://schemas.microsoft.com/office/drawing/2014/main" val="1561732748"/>
                    </a:ext>
                  </a:extLst>
                </a:gridCol>
              </a:tblGrid>
              <a:tr h="365933">
                <a:tc>
                  <a:txBody>
                    <a:bodyPr/>
                    <a:lstStyle/>
                    <a:p>
                      <a:r>
                        <a:rPr lang="fr-FR" dirty="0"/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  <a:ea typeface="+mn-lt"/>
                          <a:cs typeface="+mn-lt"/>
                        </a:rPr>
                        <a:t>Inconvénients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88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Robuste</a:t>
                      </a:r>
                      <a:endParaRPr lang="fr-FR" sz="1600" dirty="0"/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Performant</a:t>
                      </a:r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Non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linéaire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(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capte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des relations complexes)</a:t>
                      </a:r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Adapté au </a:t>
                      </a:r>
                      <a:r>
                        <a:rPr lang="en-US" sz="1600" b="1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déséquilibre</a:t>
                      </a:r>
                      <a:endParaRPr lang="en-US" sz="1600" b="1" dirty="0">
                        <a:solidFill>
                          <a:srgbClr val="0F172A"/>
                        </a:solidFill>
                        <a:ea typeface="+mn-lt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peut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générer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plus de faux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positifs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si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on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baisse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beaucoup le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seuil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de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décision</a:t>
                      </a:r>
                      <a:endParaRPr lang="fr-FR" sz="1600" dirty="0">
                        <a:solidFill>
                          <a:srgbClr val="000000"/>
                        </a:solidFill>
                      </a:endParaRPr>
                    </a:p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99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49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BEDC2-714E-C3BD-2B18-6394BC1F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5C1DBB-31A9-CA16-272F-91B78FA23AA0}"/>
              </a:ext>
            </a:extLst>
          </p:cNvPr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Modélisation multi-algorithmes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4C411F-58E8-AE5B-E80E-483D027331C6}"/>
              </a:ext>
            </a:extLst>
          </p:cNvPr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Objectif : comparer performance, stabilité, interprétabilité et coût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5716A79-75D2-51A8-39E1-6F64EF3E25E8}"/>
              </a:ext>
            </a:extLst>
          </p:cNvPr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2AA633A-2D42-56F5-926D-5CE3D34FD538}"/>
              </a:ext>
            </a:extLst>
          </p:cNvPr>
          <p:cNvSpPr/>
          <p:nvPr/>
        </p:nvSpPr>
        <p:spPr>
          <a:xfrm>
            <a:off x="685800" y="1500000"/>
            <a:ext cx="23545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361D8991-74CA-2593-724F-CCE86875373A}"/>
              </a:ext>
            </a:extLst>
          </p:cNvPr>
          <p:cNvSpPr/>
          <p:nvPr/>
        </p:nvSpPr>
        <p:spPr>
          <a:xfrm>
            <a:off x="822960" y="1820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Gradient Boosting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956216B-FD0D-CD10-7C6A-89EDE9081F5E}"/>
              </a:ext>
            </a:extLst>
          </p:cNvPr>
          <p:cNvSpPr/>
          <p:nvPr/>
        </p:nvSpPr>
        <p:spPr>
          <a:xfrm>
            <a:off x="868680" y="2370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</a:rPr>
              <a:t>ensemble de </a:t>
            </a:r>
            <a:r>
              <a:rPr lang="en-US" sz="1200" dirty="0" err="1">
                <a:solidFill>
                  <a:srgbClr val="0F172A"/>
                </a:solidFill>
              </a:rPr>
              <a:t>plusieurs</a:t>
            </a:r>
            <a:r>
              <a:rPr lang="en-US" sz="1200" dirty="0">
                <a:solidFill>
                  <a:srgbClr val="0F172A"/>
                </a:solidFill>
              </a:rPr>
              <a:t> </a:t>
            </a:r>
            <a:r>
              <a:rPr lang="en-US" sz="1200" dirty="0" err="1">
                <a:solidFill>
                  <a:srgbClr val="0F172A"/>
                </a:solidFill>
              </a:rPr>
              <a:t>arbres</a:t>
            </a:r>
            <a:r>
              <a:rPr lang="en-US" sz="1200" dirty="0">
                <a:solidFill>
                  <a:srgbClr val="0F172A"/>
                </a:solidFill>
              </a:rPr>
              <a:t> de </a:t>
            </a:r>
            <a:r>
              <a:rPr lang="en-US" sz="1200" dirty="0" err="1">
                <a:solidFill>
                  <a:srgbClr val="0F172A"/>
                </a:solidFill>
              </a:rPr>
              <a:t>décision</a:t>
            </a:r>
            <a:r>
              <a:rPr lang="en-US" sz="1200" dirty="0">
                <a:solidFill>
                  <a:srgbClr val="0F172A"/>
                </a:solidFill>
              </a:rPr>
              <a:t> </a:t>
            </a:r>
            <a:r>
              <a:rPr lang="en-US" sz="1200" dirty="0" err="1">
                <a:solidFill>
                  <a:srgbClr val="0F172A"/>
                </a:solidFill>
              </a:rPr>
              <a:t>crée</a:t>
            </a:r>
            <a:r>
              <a:rPr lang="en-US" sz="1200" dirty="0">
                <a:solidFill>
                  <a:srgbClr val="0F172A"/>
                </a:solidFill>
              </a:rPr>
              <a:t> les </a:t>
            </a:r>
            <a:r>
              <a:rPr lang="en-US" sz="1200" dirty="0" err="1">
                <a:solidFill>
                  <a:srgbClr val="0F172A"/>
                </a:solidFill>
              </a:rPr>
              <a:t>uns</a:t>
            </a:r>
            <a:r>
              <a:rPr lang="en-US" sz="1200" dirty="0">
                <a:solidFill>
                  <a:srgbClr val="0F172A"/>
                </a:solidFill>
              </a:rPr>
              <a:t> </a:t>
            </a:r>
            <a:r>
              <a:rPr lang="en-US" sz="1200" dirty="0" err="1">
                <a:solidFill>
                  <a:srgbClr val="0F172A"/>
                </a:solidFill>
              </a:rPr>
              <a:t>apres</a:t>
            </a:r>
            <a:r>
              <a:rPr lang="en-US" sz="1200" dirty="0">
                <a:solidFill>
                  <a:srgbClr val="0F172A"/>
                </a:solidFill>
              </a:rPr>
              <a:t> les </a:t>
            </a:r>
            <a:r>
              <a:rPr lang="en-US" sz="1200" dirty="0" err="1">
                <a:solidFill>
                  <a:srgbClr val="0F172A"/>
                </a:solidFill>
              </a:rPr>
              <a:t>autres</a:t>
            </a:r>
            <a:endParaRPr lang="en-US" sz="1200" dirty="0" err="1"/>
          </a:p>
        </p:txBody>
      </p:sp>
      <p:pic>
        <p:nvPicPr>
          <p:cNvPr id="5" name="Image 4" descr="Une image contenant texte, Police, capture d’écran, conception  Le contenu généré par l’IA peut être incorrect.">
            <a:extLst>
              <a:ext uri="{FF2B5EF4-FFF2-40B4-BE49-F238E27FC236}">
                <a16:creationId xmlns:a16="http://schemas.microsoft.com/office/drawing/2014/main" id="{05AB2737-6A17-74E4-B2E6-9C65A352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" y="4350000"/>
            <a:ext cx="4400550" cy="1924050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D045244-1B97-5B20-69E4-F2E082059DD1}"/>
              </a:ext>
            </a:extLst>
          </p:cNvPr>
          <p:cNvSpPr/>
          <p:nvPr/>
        </p:nvSpPr>
        <p:spPr>
          <a:xfrm>
            <a:off x="6264250" y="4323184"/>
            <a:ext cx="5011860" cy="1856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modèle performant, avec la meilleure ROC-AUC et le meilleur F1-score sur le test, mais un </a:t>
            </a:r>
            <a:r>
              <a:rPr lang="fr-FR" sz="1600" dirty="0" err="1">
                <a:solidFill>
                  <a:schemeClr val="tx1"/>
                </a:solidFill>
                <a:ea typeface="+mn-lt"/>
                <a:cs typeface="+mn-lt"/>
              </a:rPr>
              <a:t>recall</a:t>
            </a:r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 très faible en validation croisée</a:t>
            </a:r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368F1B78-264F-A5A5-C7DC-DE8870FB5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635147"/>
              </p:ext>
            </p:extLst>
          </p:nvPr>
        </p:nvGraphicFramePr>
        <p:xfrm>
          <a:off x="5776326" y="1846250"/>
          <a:ext cx="6030864" cy="1437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15432">
                  <a:extLst>
                    <a:ext uri="{9D8B030D-6E8A-4147-A177-3AD203B41FA5}">
                      <a16:colId xmlns:a16="http://schemas.microsoft.com/office/drawing/2014/main" val="3095843017"/>
                    </a:ext>
                  </a:extLst>
                </a:gridCol>
                <a:gridCol w="3015432">
                  <a:extLst>
                    <a:ext uri="{9D8B030D-6E8A-4147-A177-3AD203B41FA5}">
                      <a16:colId xmlns:a16="http://schemas.microsoft.com/office/drawing/2014/main" val="1561732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a typeface="+mn-lt"/>
                          <a:cs typeface="+mn-lt"/>
                        </a:rPr>
                        <a:t>Inconvénient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88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Très performant</a:t>
                      </a:r>
                      <a:endParaRPr lang="fr-FR" sz="1600" dirty="0">
                        <a:solidFill>
                          <a:srgbClr val="000000"/>
                        </a:solidFill>
                        <a:ea typeface="+mn-lt"/>
                        <a:cs typeface="+mn-lt"/>
                      </a:endParaRPr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Corrige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ses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erreurs</a:t>
                      </a:r>
                      <a:endParaRPr lang="en-US" sz="1600" dirty="0">
                        <a:solidFill>
                          <a:srgbClr val="0F172A"/>
                        </a:solidFill>
                        <a:ea typeface="+mn-lt"/>
                        <a:cs typeface="+mn-lt"/>
                      </a:endParaRPr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Capte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des relations complexes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- </a:t>
                      </a:r>
                      <a:r>
                        <a:rPr lang="fr-FR" sz="1600" dirty="0" err="1"/>
                        <a:t>Overfitting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99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934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9F50-AA31-2073-9FC5-D92FB2DB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A3A400-891C-C77C-2289-DB597DD95033}"/>
              </a:ext>
            </a:extLst>
          </p:cNvPr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Modélisation multi-algorithmes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C47BBC-7439-9F75-4AFA-46FE0C6EAB7E}"/>
              </a:ext>
            </a:extLst>
          </p:cNvPr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Objectif : comparer performance, stabilité, interprétabilité et coût</a:t>
            </a:r>
            <a:endParaRPr lang="en-US" sz="10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331A1E-203A-1F81-156B-4CD51685913E}"/>
              </a:ext>
            </a:extLst>
          </p:cNvPr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EEE6F9FF-4E9C-53A0-79AC-39F50CD808F5}"/>
              </a:ext>
            </a:extLst>
          </p:cNvPr>
          <p:cNvSpPr/>
          <p:nvPr/>
        </p:nvSpPr>
        <p:spPr>
          <a:xfrm>
            <a:off x="685800" y="1500000"/>
            <a:ext cx="22402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8478A0CD-B0A7-0DF1-8BEB-834D13E4BEB0}"/>
              </a:ext>
            </a:extLst>
          </p:cNvPr>
          <p:cNvSpPr/>
          <p:nvPr/>
        </p:nvSpPr>
        <p:spPr>
          <a:xfrm>
            <a:off x="822960" y="1820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</a:rPr>
              <a:t>MLPClassifier</a:t>
            </a:r>
            <a:endParaRPr lang="en-US" sz="15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8954D558-8237-2B50-7192-92C05CBA870A}"/>
              </a:ext>
            </a:extLst>
          </p:cNvPr>
          <p:cNvSpPr/>
          <p:nvPr/>
        </p:nvSpPr>
        <p:spPr>
          <a:xfrm>
            <a:off x="868680" y="23700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ea typeface="+mn-lt"/>
                <a:cs typeface="+mn-lt"/>
              </a:rPr>
              <a:t>réseau de </a:t>
            </a:r>
            <a:r>
              <a:rPr lang="en-US" sz="1200" dirty="0" err="1">
                <a:solidFill>
                  <a:srgbClr val="0F172A"/>
                </a:solidFill>
                <a:ea typeface="+mn-lt"/>
                <a:cs typeface="+mn-lt"/>
              </a:rPr>
              <a:t>neurones</a:t>
            </a:r>
          </a:p>
        </p:txBody>
      </p:sp>
      <p:pic>
        <p:nvPicPr>
          <p:cNvPr id="5" name="Image 4" descr="Une image contenant texte, Police, capture d’écran, typographie  Le contenu généré par l’IA peut être incorrect.">
            <a:extLst>
              <a:ext uri="{FF2B5EF4-FFF2-40B4-BE49-F238E27FC236}">
                <a16:creationId xmlns:a16="http://schemas.microsoft.com/office/drawing/2014/main" id="{0A078DA9-A574-2D20-FC68-0C66CB9D4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00" y="4350000"/>
            <a:ext cx="3048000" cy="180975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0717810-C9EE-0E81-E58E-A844C746628E}"/>
              </a:ext>
            </a:extLst>
          </p:cNvPr>
          <p:cNvSpPr txBox="1"/>
          <p:nvPr/>
        </p:nvSpPr>
        <p:spPr>
          <a:xfrm>
            <a:off x="3136020" y="1760403"/>
            <a:ext cx="260693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fr-FR" sz="1600" dirty="0"/>
              <a:t>500 itérations</a:t>
            </a:r>
            <a:endParaRPr lang="fr-FR" dirty="0"/>
          </a:p>
          <a:p>
            <a:pPr marL="285750" indent="-285750">
              <a:buFont typeface="Calibri"/>
              <a:buChar char="-"/>
            </a:pPr>
            <a:r>
              <a:rPr lang="fr-FR" sz="1600" dirty="0"/>
              <a:t>64 neurones dans la  </a:t>
            </a:r>
            <a:r>
              <a:rPr lang="fr-FR" sz="1600" dirty="0" err="1"/>
              <a:t>premiere</a:t>
            </a:r>
            <a:r>
              <a:rPr lang="fr-FR" sz="1600" dirty="0"/>
              <a:t> couches</a:t>
            </a:r>
          </a:p>
          <a:p>
            <a:pPr marL="285750" indent="-285750">
              <a:buFont typeface="Calibri"/>
              <a:buChar char="-"/>
            </a:pPr>
            <a:r>
              <a:rPr lang="fr-FR" sz="1600" dirty="0"/>
              <a:t>32 neurones dans la 2e</a:t>
            </a:r>
          </a:p>
          <a:p>
            <a:pPr marL="285750" indent="-285750">
              <a:buFont typeface="Calibri"/>
              <a:buChar char="-"/>
            </a:pPr>
            <a:r>
              <a:rPr lang="fr-FR" sz="1600" dirty="0"/>
              <a:t>S'</a:t>
            </a:r>
            <a:r>
              <a:rPr lang="fr-FR" sz="1600" dirty="0" err="1"/>
              <a:t>arrete</a:t>
            </a:r>
            <a:r>
              <a:rPr lang="fr-FR" sz="1600" dirty="0"/>
              <a:t> s'il ne s'améliore plus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9E258F8-F801-F855-49DE-EFF8AB425A23}"/>
              </a:ext>
            </a:extLst>
          </p:cNvPr>
          <p:cNvSpPr/>
          <p:nvPr/>
        </p:nvSpPr>
        <p:spPr>
          <a:xfrm>
            <a:off x="6265528" y="4242448"/>
            <a:ext cx="5011860" cy="1856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résultats sont faibles et </a:t>
            </a:r>
            <a:r>
              <a:rPr lang="fr-FR" sz="1600" dirty="0" err="1">
                <a:solidFill>
                  <a:schemeClr val="tx1"/>
                </a:solidFill>
                <a:ea typeface="+mn-lt"/>
                <a:cs typeface="+mn-lt"/>
              </a:rPr>
              <a:t>il détecte trè</a:t>
            </a:r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s peu</a:t>
            </a:r>
            <a:r>
              <a:rPr lang="fr-FR" sz="1600" dirty="0" err="1">
                <a:solidFill>
                  <a:schemeClr val="tx1"/>
                </a:solidFill>
                <a:ea typeface="+mn-lt"/>
                <a:cs typeface="+mn-lt"/>
              </a:rPr>
              <a:t> les chu</a:t>
            </a:r>
            <a:r>
              <a:rPr lang="fr-FR" sz="1600" dirty="0">
                <a:solidFill>
                  <a:schemeClr val="tx1"/>
                </a:solidFill>
                <a:ea typeface="+mn-lt"/>
                <a:cs typeface="+mn-lt"/>
              </a:rPr>
              <a:t>rners.</a:t>
            </a:r>
            <a:endParaRPr lang="fr-FR" dirty="0">
              <a:solidFill>
                <a:schemeClr val="tx1"/>
              </a:solidFill>
              <a:ea typeface="+mn-lt"/>
              <a:cs typeface="+mn-lt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FA9F857B-A846-D57C-786A-149E872E72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043958"/>
              </p:ext>
            </p:extLst>
          </p:nvPr>
        </p:nvGraphicFramePr>
        <p:xfrm>
          <a:off x="5952896" y="1820000"/>
          <a:ext cx="5705704" cy="1437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52852">
                  <a:extLst>
                    <a:ext uri="{9D8B030D-6E8A-4147-A177-3AD203B41FA5}">
                      <a16:colId xmlns:a16="http://schemas.microsoft.com/office/drawing/2014/main" val="3095843017"/>
                    </a:ext>
                  </a:extLst>
                </a:gridCol>
                <a:gridCol w="2852852">
                  <a:extLst>
                    <a:ext uri="{9D8B030D-6E8A-4147-A177-3AD203B41FA5}">
                      <a16:colId xmlns:a16="http://schemas.microsoft.com/office/drawing/2014/main" val="1561732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  <a:ea typeface="+mn-lt"/>
                          <a:cs typeface="+mn-lt"/>
                        </a:rPr>
                        <a:t>Inconvénient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88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Capte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des interactions complexes</a:t>
                      </a:r>
                    </a:p>
                    <a:p>
                      <a:pPr marL="285750" indent="-285750">
                        <a:buFont typeface="Calibri"/>
                        <a:buChar char="-"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Flexible</a:t>
                      </a:r>
                      <a:endParaRPr lang="en-US" sz="1600" dirty="0">
                        <a:solidFill>
                          <a:srgbClr val="0F172A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-  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sur un petit dataset, le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deeplearning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n'est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pas le </a:t>
                      </a:r>
                      <a:r>
                        <a:rPr lang="en-US" sz="1600" dirty="0" err="1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meilleur</a:t>
                      </a:r>
                      <a:r>
                        <a:rPr lang="en-US" sz="1600" dirty="0">
                          <a:solidFill>
                            <a:srgbClr val="0F172A"/>
                          </a:solidFill>
                          <a:ea typeface="+mn-lt"/>
                          <a:cs typeface="+mn-lt"/>
                        </a:rPr>
                        <a:t> choix</a:t>
                      </a:r>
                      <a:endParaRPr lang="en-US" sz="1600" dirty="0">
                        <a:solidFill>
                          <a:srgbClr val="0F172A"/>
                        </a:solidFill>
                      </a:endParaRPr>
                    </a:p>
                    <a:p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99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067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Comparaison quantitative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Le choix final se base principalement sur la PR-AUC en validation croisée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86325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CV PR-AUC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9360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2320454"/>
            <a:ext cx="25603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651760" y="2320454"/>
            <a:ext cx="214213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49240" y="23661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0,251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5197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2978822"/>
            <a:ext cx="25603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651760" y="2978822"/>
            <a:ext cx="2073859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349240" y="30245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0,243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71034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Logistic Regression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3637190"/>
            <a:ext cx="25603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651760" y="3637190"/>
            <a:ext cx="1638605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349240" y="368291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0,192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6871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MLP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0" y="4295558"/>
            <a:ext cx="256032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651760" y="4295558"/>
            <a:ext cx="665683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49240" y="434127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0,078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046134"/>
            <a:ext cx="146304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300216" y="2155862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Modèle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26680" y="2046134"/>
            <a:ext cx="9144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63256" y="215586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ROC-AUC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41080" y="2046134"/>
            <a:ext cx="91440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677656" y="215586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PR-AUC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55480" y="2046134"/>
            <a:ext cx="73152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592056" y="215586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F1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0287000" y="2046134"/>
            <a:ext cx="731520" cy="384048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323576" y="215586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</a:rPr>
              <a:t>Seuil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63640" y="243932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300216" y="254905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Random Forest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26680" y="243932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763256" y="254905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0,733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8641080" y="2439326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677656" y="2549054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0,249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555480" y="243932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9592056" y="254905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0,314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10287000" y="2439326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0323576" y="254905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0,10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263640" y="2832518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300216" y="2942246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Gradient Boosting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7726680" y="283251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763256" y="294224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0,722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641080" y="2832518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8677656" y="2942246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0,262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9555480" y="2832518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9592056" y="294224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0,377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10287000" y="2832518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10323576" y="294224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0,10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6263640" y="322571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300216" y="3335438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Logistic Reg.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7726680" y="322571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7763256" y="333543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0,693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8641080" y="3225710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8677656" y="333543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0,241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9555480" y="3225710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9592056" y="333543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0,219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10287000" y="3225710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10323576" y="333543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0,40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6263640" y="361890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300216" y="3728630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MLP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726680" y="361890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7763256" y="372863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0,427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8641080" y="361890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8677656" y="3728630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0,084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9555480" y="3618902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9592056" y="372863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0,174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10287000" y="3618902"/>
            <a:ext cx="731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10323576" y="372863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dirty="0">
                <a:solidFill>
                  <a:srgbClr val="0F172A"/>
                </a:solidFill>
              </a:rPr>
              <a:t>0,10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6400800" y="4743614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6629400" y="505901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Décision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7955280" y="501925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Random Forest retenu : meilleure PR-AUC moyenne en CV, bonne robustesse, interprétation possible et intégration simple.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Modèle final : Random Forest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Seuil optimisé à 0,10 pour favoriser la détection des churners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Matrice de confusion — test set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1270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Vrais négatifs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23160" y="19842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526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23160" y="233172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Faux positifs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29900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68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Faux négatifs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283464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23160" y="29900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136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3160" y="333756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Vrais positifs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0" y="17830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07408" y="19476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0,667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07408" y="2368296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 recall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7830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72136" y="19476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0,249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73368" y="2368296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 PR-AUC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17830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413835" y="1947672"/>
            <a:ext cx="1472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0,733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39328" y="2368296"/>
            <a:ext cx="1472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 ROC-AUC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97680" y="365760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1772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4444"/>
                </a:solidFill>
              </a:rPr>
              <a:t>Choix métier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3796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Les faux négatifs sont les plus coûteux : ce sont des clients qui vont churner mais ne sont pas détectés. Le seuil bas augmente le recall, au prix de plus de faux positifs.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Industrialisation : API +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Objectif : rendre le modèle utilisable hors notebook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903220" y="3544260"/>
            <a:ext cx="685800" cy="3200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753100" y="3544260"/>
            <a:ext cx="685800" cy="3200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8602980" y="3544260"/>
            <a:ext cx="685800" cy="32004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792480" y="3087060"/>
            <a:ext cx="2057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929640" y="33156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Utilisateur métier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9640" y="37088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Dashboard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Streamlit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42360" y="3087060"/>
            <a:ext cx="2057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779520" y="33156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Requête JSON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79520" y="37088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API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FastAPI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3087060"/>
            <a:ext cx="2057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629400" y="33156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Pipeline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7088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Prétraitement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+ modèle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42120" y="3087060"/>
            <a:ext cx="20574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479280" y="33156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Résultat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79280" y="37088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Probabilité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</a:rPr>
              <a:t>+ décision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904</Words>
  <Application>Microsoft Macintosh PowerPoint</Application>
  <PresentationFormat>Grand écran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EFREI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intelligent pour la rétention client</dc:title>
  <dc:subject>Projet Data Science - Churn client</dc:subject>
  <dc:creator>OpenAI</dc:creator>
  <cp:lastModifiedBy>Francois NGY</cp:lastModifiedBy>
  <cp:revision>323</cp:revision>
  <dcterms:created xsi:type="dcterms:W3CDTF">2026-05-01T14:17:47Z</dcterms:created>
  <dcterms:modified xsi:type="dcterms:W3CDTF">2026-05-06T20:44:12Z</dcterms:modified>
</cp:coreProperties>
</file>